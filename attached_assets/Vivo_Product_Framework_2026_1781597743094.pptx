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drawingml.chartshapes+xml" PartName="/ppt/drawings/drawing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WyUO8wvI9Rc3bPlWPx/ZKvxCc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AB4C2F-F323-458E-81DC-17F80A0474C5}">
  <a:tblStyle styleId="{72AB4C2F-F323-458E-81DC-17F80A0474C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Relationship Id="rId2" Type="http://schemas.openxmlformats.org/officeDocument/2006/relationships/chartUserShapes" Target="../drawings/drawing1.xml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GB" sz="1100" b="0" i="0" u="none" strike="noStrike" dirty="0">
                <a:solidFill>
                  <a:srgbClr val="1E293B"/>
                </a:solidFill>
                <a:latin typeface="Arial"/>
              </a:rPr>
              <a:t>Gross Revenue Growth (KES 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(KES M)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2D-614D-A6B5-8DD482081160}"/>
              </c:ext>
            </c:extLst>
          </c:dPt>
          <c:dPt>
            <c:idx val="1"/>
            <c:invertIfNegative val="0"/>
            <c:bubble3D val="0"/>
            <c:spPr>
              <a:solidFill>
                <a:srgbClr val="1B4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2D-614D-A6B5-8DD482081160}"/>
              </c:ext>
            </c:extLst>
          </c:dPt>
          <c:dPt>
            <c:idx val="2"/>
            <c:invertIfNegative val="0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2D-614D-A6B5-8DD48208116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 Actual</c:v>
                </c:pt>
                <c:pt idx="1">
                  <c:v>2025 Actual</c:v>
                </c:pt>
                <c:pt idx="2">
                  <c:v>2026 Target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820</c:v>
                </c:pt>
                <c:pt idx="1">
                  <c:v>1030</c:v>
                </c:pt>
                <c:pt idx="2">
                  <c:v>1450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D2D-614D-A6B5-8DD4820811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1E293B"/>
                </a:solidFill>
                <a:latin typeface="Arial"/>
              </a:rPr>
              <a:t>Current Active Styles — Revenue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D4-214A-84B5-E931900FAEB8}"/>
              </c:ext>
            </c:extLst>
          </c:dPt>
          <c:dPt>
            <c:idx val="1"/>
            <c:bubble3D val="0"/>
            <c:spPr>
              <a:solidFill>
                <a:srgbClr val="1B4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D4-214A-84B5-E931900FAEB8}"/>
              </c:ext>
            </c:extLst>
          </c:dPt>
          <c:dPt>
            <c:idx val="2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D4-214A-84B5-E931900FAEB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K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D4-214A-84B5-E931900FAEB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K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D4-214A-84B5-E931900FAEB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K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2D4-214A-84B5-E931900FAE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Top 8% (55% rev)</c:v>
                </c:pt>
                <c:pt idx="1">
                  <c:v>Next 42% (43% rev)</c:v>
                </c:pt>
                <c:pt idx="2">
                  <c:v>Bottom 50% (1.7% rev)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42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D4-214A-84B5-E931900FA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E293B"/>
                </a:solidFill>
                <a:latin typeface="Arial"/>
              </a:rPr>
              <a:t>Sales Mix by Customer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3D-9B4C-B9AC-B216C15A93C3}"/>
              </c:ext>
            </c:extLst>
          </c:dPt>
          <c:dPt>
            <c:idx val="1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3D-9B4C-B9AC-B216C15A93C3}"/>
              </c:ext>
            </c:extLst>
          </c:dPt>
          <c:dPt>
            <c:idx val="2"/>
            <c:bubble3D val="0"/>
            <c:spPr>
              <a:solidFill>
                <a:srgbClr val="1B4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3D-9B4C-B9AC-B216C15A93C3}"/>
              </c:ext>
            </c:extLst>
          </c:dPt>
          <c:dPt>
            <c:idx val="3"/>
            <c:bubble3D val="0"/>
            <c:spPr>
              <a:solidFill>
                <a:srgbClr val="0F2D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3D-9B4C-B9AC-B216C15A93C3}"/>
              </c:ext>
            </c:extLst>
          </c:dPt>
          <c:cat>
            <c:strRef>
              <c:f>Sheet1!$A$2:$A$5</c:f>
              <c:strCache>
                <c:ptCount val="4"/>
                <c:pt idx="0">
                  <c:v>Safari by Vivo 15%</c:v>
                </c:pt>
                <c:pt idx="1">
                  <c:v>Arriving Woman 15%</c:v>
                </c:pt>
                <c:pt idx="2">
                  <c:v>Core Woman 50%</c:v>
                </c:pt>
                <c:pt idx="3">
                  <c:v>Signature Woman 20%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15</c:v>
                </c:pt>
                <c:pt idx="2">
                  <c:v>50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3D-9B4C-B9AC-B216C15A93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E293B"/>
                </a:solidFill>
                <a:latin typeface="Arial"/>
              </a:rPr>
              <a:t>Units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B4B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4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34-3A47-B3E0-4B7BB226B4F0}"/>
              </c:ext>
            </c:extLst>
          </c:dPt>
          <c:dPt>
            <c:idx val="1"/>
            <c:invertIfNegative val="0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34-3A47-B3E0-4B7BB226B4F0}"/>
              </c:ext>
            </c:extLst>
          </c:dPt>
          <c:dPt>
            <c:idx val="2"/>
            <c:invertIfNegative val="0"/>
            <c:bubble3D val="0"/>
            <c:spPr>
              <a:solidFill>
                <a:srgbClr val="0F2D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34-3A47-B3E0-4B7BB226B4F0}"/>
              </c:ext>
            </c:extLst>
          </c:dPt>
          <c:dPt>
            <c:idx val="3"/>
            <c:invertIfNegative val="0"/>
            <c:bubble3D val="0"/>
            <c:spPr>
              <a:solidFill>
                <a:srgbClr val="1A7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34-3A47-B3E0-4B7BB226B4F0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34-3A47-B3E0-4B7BB226B4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Dresses</c:v>
                </c:pt>
                <c:pt idx="1">
                  <c:v>Tops</c:v>
                </c:pt>
                <c:pt idx="2">
                  <c:v>Bottoms</c:v>
                </c:pt>
                <c:pt idx="3">
                  <c:v>Outerwear</c:v>
                </c:pt>
                <c:pt idx="4">
                  <c:v>Skirts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10650</c:v>
                </c:pt>
                <c:pt idx="1">
                  <c:v>8400</c:v>
                </c:pt>
                <c:pt idx="2">
                  <c:v>6400</c:v>
                </c:pt>
                <c:pt idx="3">
                  <c:v>4800</c:v>
                </c:pt>
                <c:pt idx="4">
                  <c:v>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34-3A47-B3E0-4B7BB226B4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1E293B"/>
                </a:solidFill>
                <a:latin typeface="Arial"/>
              </a:rPr>
              <a:t>Style Mix (69 orders placed)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Style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70B-5245-B935-15D2A30F65DD}"/>
              </c:ext>
            </c:extLst>
          </c:dPt>
          <c:dPt>
            <c:idx val="1"/>
            <c:bubble3D val="0"/>
            <c:spPr>
              <a:solidFill>
                <a:srgbClr val="1B4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0B-5245-B935-15D2A30F65DD}"/>
              </c:ext>
            </c:extLst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0B-5245-B935-15D2A30F65DD}"/>
              </c:ext>
            </c:extLst>
          </c:dPt>
          <c:cat>
            <c:strRef>
              <c:f>Sheet1!$A$2:$A$4</c:f>
              <c:strCache>
                <c:ptCount val="3"/>
                <c:pt idx="0">
                  <c:v>New Styles  25</c:v>
                </c:pt>
                <c:pt idx="1">
                  <c:v>Re-Orders  13</c:v>
                </c:pt>
                <c:pt idx="2">
                  <c:v>Replenishment  31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13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70B-5245-B935-15D2A30F6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0.42156</cdr:x>
      <cdr:y>0.63247</cdr:y>
    </cdr:from>
    <cdr:to>
      <cdr:x>0.57844</cdr:x>
      <cdr:y>0.71933</cdr:y>
    </cdr:to>
    <cdr:sp macro="" textlink="">
      <cdr:nvSpPr>
        <cdr:cNvPr id="2" name="TextBox 9">
          <a:extLst xmlns:a="http://schemas.openxmlformats.org/drawingml/2006/main">
            <a:ext uri="{FF2B5EF4-FFF2-40B4-BE49-F238E27FC236}">
              <a16:creationId xmlns:a16="http://schemas.microsoft.com/office/drawing/2014/main" id="{2FE3F277-1E4A-2E66-05FB-734542A39317}"/>
            </a:ext>
          </a:extLst>
        </cdr:cNvPr>
        <cdr:cNvSpPr txBox="1"/>
      </cdr:nvSpPr>
      <cdr:spPr>
        <a:xfrm xmlns:a="http://schemas.openxmlformats.org/drawingml/2006/main">
          <a:off x="1464815" y="1792821"/>
          <a:ext cx="545089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KE" sz="1000" dirty="0">
              <a:solidFill>
                <a:schemeClr val="bg1"/>
              </a:solidFill>
            </a:rPr>
            <a:t>50%</a:t>
          </a:r>
        </a:p>
      </cdr:txBody>
    </cdr:sp>
  </cdr:relSizeAnchor>
  <cdr:relSizeAnchor xmlns:cdr="http://schemas.openxmlformats.org/drawingml/2006/chartDrawing">
    <cdr:from>
      <cdr:x>0.3278</cdr:x>
      <cdr:y>0.24014</cdr:y>
    </cdr:from>
    <cdr:to>
      <cdr:x>0.48467</cdr:x>
      <cdr:y>0.327</cdr:y>
    </cdr:to>
    <cdr:sp macro="" textlink="">
      <cdr:nvSpPr>
        <cdr:cNvPr id="3" name="TextBox 9">
          <a:extLst xmlns:a="http://schemas.openxmlformats.org/drawingml/2006/main">
            <a:ext uri="{FF2B5EF4-FFF2-40B4-BE49-F238E27FC236}">
              <a16:creationId xmlns:a16="http://schemas.microsoft.com/office/drawing/2014/main" id="{2FE3F277-1E4A-2E66-05FB-734542A39317}"/>
            </a:ext>
          </a:extLst>
        </cdr:cNvPr>
        <cdr:cNvSpPr txBox="1"/>
      </cdr:nvSpPr>
      <cdr:spPr>
        <a:xfrm xmlns:a="http://schemas.openxmlformats.org/drawingml/2006/main">
          <a:off x="1139003" y="680719"/>
          <a:ext cx="545089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KE" sz="1000" dirty="0">
              <a:solidFill>
                <a:schemeClr val="bg1"/>
              </a:solidFill>
            </a:rPr>
            <a:t>20%</a:t>
          </a:r>
        </a:p>
      </cdr:txBody>
    </cdr:sp>
  </cdr:relSizeAnchor>
</c:userShape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94360" y="8229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Vivo Fashion Group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94360" y="13716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Team SOP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94360" y="32461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2026 Operating Model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172200" y="891540"/>
            <a:ext cx="2377440" cy="137160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172200" y="118872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KES 1.45B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172200" y="15773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Gross Revenue Target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172200" y="2400300"/>
            <a:ext cx="2377440" cy="137160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172200" y="26517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417,000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172200" y="305181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Made in Africa garments sold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94360" y="4389120"/>
            <a:ext cx="5669280" cy="36576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94360" y="448056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FD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8AAFDC"/>
                </a:solidFill>
                <a:latin typeface="Calibri"/>
                <a:ea typeface="Calibri"/>
                <a:cs typeface="Calibri"/>
                <a:sym typeface="Calibri"/>
              </a:rPr>
              <a:t>May 2026 · Confidential — Internal Use Only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Targets &amp; Strategic Bets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" name="Google Shape;31;p2"/>
          <p:cNvGraphicFramePr/>
          <p:nvPr/>
        </p:nvGraphicFramePr>
        <p:xfrm>
          <a:off x="365760" y="1289300"/>
          <a:ext cx="4023300" cy="32919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2" name="Google Shape;32;p2"/>
          <p:cNvSpPr/>
          <p:nvPr/>
        </p:nvSpPr>
        <p:spPr>
          <a:xfrm>
            <a:off x="4754880" y="914400"/>
            <a:ext cx="411480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754880" y="914400"/>
            <a:ext cx="137160" cy="100584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983480" y="96926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Bet 1: Fix Fit &amp; Quality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983480" y="1298448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Become the go-to brand for quality clothing designed to fit African body shapes. Consistent quality &amp; fit standard.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4880" y="2057400"/>
            <a:ext cx="411480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754880" y="2057400"/>
            <a:ext cx="137160" cy="100584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983480" y="211226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Bet 2: Design Distinction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983480" y="2441448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Signature prints, embroidery &amp; youthful cuts. Target: 2,000 new 'Arriving Woman' customers.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54880" y="3200400"/>
            <a:ext cx="411480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54880" y="3200400"/>
            <a:ext cx="137160" cy="1005840"/>
          </a:xfrm>
          <a:prstGeom prst="rect">
            <a:avLst/>
          </a:prstGeom>
          <a:solidFill>
            <a:srgbClr val="1A7A5A"/>
          </a:solidFill>
          <a:ln cap="flat" cmpd="sng" w="12700">
            <a:solidFill>
              <a:srgbClr val="1A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983480" y="325526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5A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A7A5A"/>
                </a:solidFill>
                <a:latin typeface="Calibri"/>
                <a:ea typeface="Calibri"/>
                <a:cs typeface="Calibri"/>
                <a:sym typeface="Calibri"/>
              </a:rPr>
              <a:t>Bet 3: Smarter Sourcing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83480" y="3584448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Dual-track production (in-house + outsourced). Input COGS below 32% (from 35%). New sweater lines.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754880" y="4297236"/>
            <a:ext cx="4114800" cy="791888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54880" y="4261104"/>
            <a:ext cx="4114800" cy="864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Standard: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1" sz="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 Quality &amp; Fit · 80% Sell-Through · Delivered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Customer: The Three Women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4320" y="914400"/>
            <a:ext cx="2743200" cy="3474720"/>
          </a:xfrm>
          <a:prstGeom prst="rect">
            <a:avLst/>
          </a:prstGeom>
          <a:solidFill>
            <a:srgbClr val="FDF0E8"/>
          </a:solidFill>
          <a:ln cap="flat" cmpd="sng" w="12700">
            <a:solidFill>
              <a:srgbClr val="FDF0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25–35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11480" y="1508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The Arriving Woman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11505" y="1988825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Becoming herself. Moves from experimental to intentional dressing. Wants to look like she knows who she 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035808" y="2514600"/>
            <a:ext cx="146304" cy="36576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017520" y="23317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200400" y="914400"/>
            <a:ext cx="2743200" cy="3474720"/>
          </a:xfrm>
          <a:prstGeom prst="rect">
            <a:avLst/>
          </a:prstGeom>
          <a:solidFill>
            <a:srgbClr val="EFF4FB"/>
          </a:solidFill>
          <a:ln cap="flat" cmpd="sng" w="12700">
            <a:solidFill>
              <a:srgbClr val="EFF4F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35–50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337560" y="1508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The Core Woman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337560" y="1933950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Has found herself. She trusts Vivo. Doesn't want to be reinvented — she wants to be refreshed.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961888" y="2514600"/>
            <a:ext cx="146304" cy="36576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943600" y="23317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EEF0F6"/>
          </a:solidFill>
          <a:ln cap="flat" cmpd="sng" w="12700">
            <a:solidFill>
              <a:srgbClr val="EEF0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50+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263640" y="1508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The Signature Woman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263515" y="1933950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She is her own signature. Dresses with authority. She is not the past — she is the aspiration.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Conveyor Belt Principle: Win the Arriving Woman today → invest in Vivo's most loyal customer of 2040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74350" y="4188000"/>
            <a:ext cx="8595300" cy="38400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"Clothes for the modern African woman, at every chapter and in every occasion of her life."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Pipeline: Initiation to Launch Brief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74320" y="914400"/>
            <a:ext cx="3977700" cy="3566100"/>
          </a:xfrm>
          <a:prstGeom prst="rect">
            <a:avLst/>
          </a:prstGeom>
          <a:solidFill>
            <a:srgbClr val="EFF4FB"/>
          </a:solidFill>
          <a:ln cap="flat" cmpd="sng" w="12700">
            <a:solidFill>
              <a:srgbClr val="EFF4F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74320" y="914400"/>
            <a:ext cx="3977640" cy="438912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74320" y="914400"/>
            <a:ext cx="3977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1 — The Scouting Circle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02920" y="1481328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6–10 rotating cross-functional members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02920" y="1901952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2–3 structured style ideas submitted weekly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02920" y="2322576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Members from product, retail, marketing &amp; CS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02920" y="274320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Rotates every 6 months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02920" y="3163824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All 6 submission fields required or returned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297680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2200"/>
              <a:buFont typeface="Calibri"/>
              <a:buNone/>
            </a:pPr>
            <a:r>
              <a:rPr b="1" lang="en-US" sz="2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00600" y="914400"/>
            <a:ext cx="4069080" cy="3566160"/>
          </a:xfrm>
          <a:prstGeom prst="rect">
            <a:avLst/>
          </a:prstGeom>
          <a:solidFill>
            <a:srgbClr val="FDF0E8"/>
          </a:solidFill>
          <a:ln cap="flat" cmpd="sng" w="12700">
            <a:solidFill>
              <a:srgbClr val="FDF0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800600" y="914400"/>
            <a:ext cx="4069080" cy="438912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800600" y="914400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2 — The Buying Council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029200" y="14813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Bi-weekly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492240" y="148132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90-min meeting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29200" y="19019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Reviews &amp; scores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92240" y="190195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scoring range: 1–5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029200" y="23225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Selects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492240" y="23225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20–24 styles per cycle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29200" y="2743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Assigns launch route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492240" y="27432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&amp; completes brief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0" y="316382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Chaired by CEO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492240" y="316382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until Head of Product hired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74320" y="4599432"/>
            <a:ext cx="8595360" cy="438912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74320" y="459943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CEO Initiation transitions from ~60% (Phase 0) → 0% (Month 9+) as Head of Product onboards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Range Management: The 4-Tier Framework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74320" y="868680"/>
            <a:ext cx="8595360" cy="566928"/>
          </a:xfrm>
          <a:prstGeom prst="rect">
            <a:avLst/>
          </a:prstGeom>
          <a:solidFill>
            <a:srgbClr val="FDF0E8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65760" y="8686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Current range: 1,263 styles (2× target). Top 8% = 55% of revenue. Bottom 50% = only 1.7% of revenue.  Target: 500–700 styles.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5"/>
          <p:cNvGraphicFramePr/>
          <p:nvPr/>
        </p:nvGraphicFramePr>
        <p:xfrm>
          <a:off x="274320" y="1554480"/>
          <a:ext cx="3291840" cy="3017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6" name="Google Shape;116;p5"/>
          <p:cNvSpPr/>
          <p:nvPr/>
        </p:nvSpPr>
        <p:spPr>
          <a:xfrm>
            <a:off x="3749040" y="1572768"/>
            <a:ext cx="5120640" cy="731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749040" y="1572768"/>
            <a:ext cx="128016" cy="7315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977640" y="1627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Tier 1: Core Basics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977640" y="19202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Permanent range. Always in production. Reorder at WOC ≤8 wks.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903720" y="1682496"/>
            <a:ext cx="1783080" cy="5029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903720" y="1682496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30–50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749040" y="2377440"/>
            <a:ext cx="5120640" cy="731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749040" y="2377440"/>
            <a:ext cx="128016" cy="73152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977640" y="24323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Tier 2: Core Performers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977640" y="272491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 Buy, 9+ months, 3+ reorders. 24-month age cap.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903720" y="2487168"/>
            <a:ext cx="1783080" cy="50292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903720" y="2487168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200–300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749040" y="3182112"/>
            <a:ext cx="5120640" cy="731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749040" y="3182112"/>
            <a:ext cx="128016" cy="7315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977640" y="323697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Tier 3: Recent Performers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977640" y="352958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Passed initial test; building track record. Close monitoring.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903720" y="3291840"/>
            <a:ext cx="1783080" cy="5029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903720" y="32918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150–200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749040" y="3986784"/>
            <a:ext cx="5120640" cy="731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749040" y="3986784"/>
            <a:ext cx="128016" cy="73152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977640" y="40416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Tier 4: New/Test Styles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977640" y="433425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new style starts here. 8-week read. Graduate or retire.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903720" y="4096512"/>
            <a:ext cx="1783080" cy="50292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903720" y="409651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60–100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 Launch Strategy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74320" y="914400"/>
            <a:ext cx="2011680" cy="50292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74320" y="9144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274320" y="1417320"/>
            <a:ext cx="2011680" cy="1371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14630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Lower Conviction Test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60" y="189280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risk styles. Online-only or 1–2 stores.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468880" y="914400"/>
            <a:ext cx="2011680" cy="50292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468880" y="9144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2468880" y="1417320"/>
            <a:ext cx="2011680" cy="1371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560320" y="14630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Standard Test (default)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560320" y="189280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 stores + ShopZetu. Standard size pack.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663440" y="914400"/>
            <a:ext cx="2011680" cy="50292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663440" y="9144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663440" y="1417320"/>
            <a:ext cx="2011680" cy="1371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754880" y="14630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Confident Test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754880" y="189280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conviction. Doubles opening run.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858000" y="914400"/>
            <a:ext cx="2011680" cy="5029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58000" y="9144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 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858000" y="1417320"/>
            <a:ext cx="2011680" cy="1371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949440" y="14630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Direct Full Buy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949440" y="189280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29 stores from day one. CEO sign-off required.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74320" y="2944368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Read Timing — Decision Gates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74320" y="3337560"/>
            <a:ext cx="4114800" cy="15544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74320" y="3337560"/>
            <a:ext cx="1188720" cy="155448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74320" y="3337560"/>
            <a:ext cx="1188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(Standard Read)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536192" y="3537467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b="1"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Conditions: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536192" y="3811787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price &gt;90%  ·  Last sale ≤7 days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WOC ≤8 weeks  ·  SOR &gt;60%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536192" y="4236983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5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1A7A5A"/>
                </a:solidFill>
                <a:latin typeface="Calibri"/>
                <a:ea typeface="Calibri"/>
                <a:cs typeface="Calibri"/>
                <a:sym typeface="Calibri"/>
              </a:rPr>
              <a:t>✓ Full rollout + Graduate to Tier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754880" y="3337560"/>
            <a:ext cx="4114800" cy="15544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754880" y="3337560"/>
            <a:ext cx="1188720" cy="155448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754880" y="3337560"/>
            <a:ext cx="1188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(Backstop Gate)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016752" y="34015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Conditions: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016752" y="367588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price &gt;90%  ·  Last sale ≤7 days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WOC ≤8 weeks  ·  SOR ≥80%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016752" y="4114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5A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1A7A5A"/>
                </a:solidFill>
                <a:latin typeface="Calibri"/>
                <a:ea typeface="Calibri"/>
                <a:cs typeface="Calibri"/>
                <a:sym typeface="Calibri"/>
              </a:rPr>
              <a:t>✓ Graduate to Tier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016752" y="44256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✗ Retire → Outlet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525156" y="4488443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✗ Push Marketing / VM – wait for week 12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Collections Framework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274320" y="914400"/>
            <a:ext cx="2743200" cy="438912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74320" y="91440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11480" y="1444752"/>
            <a:ext cx="2468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3–6 pieces linked by a named lifestyle theme. Pieces share a mood. E.g. 'Weekend in Lamu'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200400" y="914400"/>
            <a:ext cx="2743200" cy="438912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200400" y="91440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Occasion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337560" y="1444752"/>
            <a:ext cx="2468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3–4 pieces addressing a specific wardrobe need. E.g. 'The Boardroom'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126480" y="914400"/>
            <a:ext cx="2743200" cy="1691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26480" y="914400"/>
            <a:ext cx="2743200" cy="438912"/>
          </a:xfrm>
          <a:prstGeom prst="rect">
            <a:avLst/>
          </a:prstGeom>
          <a:solidFill>
            <a:srgbClr val="1A7A5A"/>
          </a:solidFill>
          <a:ln cap="flat" cmpd="sng" w="12700">
            <a:solidFill>
              <a:srgbClr val="1A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126475" y="914400"/>
            <a:ext cx="2846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Capsule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263640" y="1444752"/>
            <a:ext cx="2468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3–4 pieces designed to be worn together. Shared fabric family, complementary colours.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74320" y="2761488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Bi-Weekly Cadence — 24 Collections Per Year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74320" y="3200400"/>
            <a:ext cx="2011680" cy="164592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74320" y="3246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65760" y="3639312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 week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3–6 styles in named collection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4–5 standalone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450592" y="3200400"/>
            <a:ext cx="2011680" cy="1645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450592" y="3246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542032" y="3639312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collection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standalone styles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Prev. collection stays in windows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626864" y="3200400"/>
            <a:ext cx="2011680" cy="164592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626864" y="3246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718304" y="3639312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 week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collection launches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Prev. rotates off windows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803136" y="3200400"/>
            <a:ext cx="2011680" cy="1645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803136" y="32461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894576" y="3639312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collection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standalone styles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8778240" y="914400"/>
            <a:ext cx="64008" cy="3931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Planning &amp; KPI Dashboard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i="1"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Merchandise Financial Plan (MFP) aligns product strategy with financial goals across 12 months. Built once a year, reviewed quarterly, adjusted monthly.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931920" y="12115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lang="en-US" sz="1300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KPI Dashboard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8"/>
          <p:cNvGraphicFramePr/>
          <p:nvPr/>
        </p:nvGraphicFramePr>
        <p:xfrm>
          <a:off x="3840480" y="1531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{72AB4C2F-F323-458E-81DC-17F80A0474C5}</a:tableStyleId>
              </a:tblPr>
              <a:tblGrid>
                <a:gridCol w="2743200"/>
                <a:gridCol w="2194550"/>
              </a:tblGrid>
              <a:tr h="34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Tracked 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vs Plan by Subcategory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Weekly · Monthly · Quarterly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Sell-Through (Week 1, 2, 6, 12)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 style, weekly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Price % by Style &amp; Tier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Weekly — reorder gate (&gt;90%)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Graduation Rate Tier 4→3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— quality of new selection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Graduation Rate Tier 3→2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Quarterly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Markdown % (planned vs actual)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Deadstock (WOS &gt;26 wks)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Bestsellers ratio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— target: 40–55% of revenue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Scouting Circle Graduation 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Quarterly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" name="Google Shape;225;p8"/>
          <p:cNvGraphicFramePr/>
          <p:nvPr/>
        </p:nvGraphicFramePr>
        <p:xfrm>
          <a:off x="212176" y="1937060"/>
          <a:ext cx="3474600" cy="28347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26" name="Google Shape;226;p8"/>
          <p:cNvSpPr txBox="1"/>
          <p:nvPr/>
        </p:nvSpPr>
        <p:spPr>
          <a:xfrm>
            <a:off x="1996959" y="2352895"/>
            <a:ext cx="54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2358280" y="2794026"/>
            <a:ext cx="54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1676934" y="3467270"/>
            <a:ext cx="54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Product Plan: April 2026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274320" y="841248"/>
            <a:ext cx="1305905" cy="68580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74320" y="859536"/>
            <a:ext cx="13059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274320" y="1207008"/>
            <a:ext cx="130590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Styles Planned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744817" y="832104"/>
            <a:ext cx="1451144" cy="68580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765591" y="884837"/>
            <a:ext cx="14303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30,900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879936" y="1223165"/>
            <a:ext cx="130590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Units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310306" y="832104"/>
            <a:ext cx="1785477" cy="685800"/>
          </a:xfrm>
          <a:prstGeom prst="rect">
            <a:avLst/>
          </a:prstGeom>
          <a:solidFill>
            <a:srgbClr val="00B0F0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261122" y="868680"/>
            <a:ext cx="187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KES 140.5M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320959" y="1207008"/>
            <a:ext cx="177482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Cost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7528263" y="832104"/>
            <a:ext cx="1526249" cy="685800"/>
          </a:xfrm>
          <a:prstGeom prst="rect">
            <a:avLst/>
          </a:prstGeom>
          <a:solidFill>
            <a:srgbClr val="1A7A5A"/>
          </a:solidFill>
          <a:ln cap="flat" cmpd="sng" w="12700">
            <a:solidFill>
              <a:srgbClr val="1A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528262" y="868680"/>
            <a:ext cx="152625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29.1%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528263" y="1207008"/>
            <a:ext cx="152625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Margin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" name="Google Shape;248;p9"/>
          <p:cNvGraphicFramePr/>
          <p:nvPr/>
        </p:nvGraphicFramePr>
        <p:xfrm>
          <a:off x="274320" y="1627632"/>
          <a:ext cx="4114800" cy="3291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49" name="Google Shape;249;p9"/>
          <p:cNvSpPr/>
          <p:nvPr/>
        </p:nvSpPr>
        <p:spPr>
          <a:xfrm>
            <a:off x="4617720" y="1627632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Category Summary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9"/>
          <p:cNvGraphicFramePr/>
          <p:nvPr/>
        </p:nvGraphicFramePr>
        <p:xfrm>
          <a:off x="4617720" y="19933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{72AB4C2F-F323-458E-81DC-17F80A0474C5}</a:tableStyleId>
              </a:tblPr>
              <a:tblGrid>
                <a:gridCol w="1691650"/>
                <a:gridCol w="640075"/>
                <a:gridCol w="822950"/>
                <a:gridCol w="8229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Styles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Mix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B8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4B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Dresses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10,650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34.5%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61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61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8,400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27.2%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8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D5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2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6,400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20.7%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0F6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5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7A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Outerwear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4,800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7F2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Skirts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30,900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D5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" name="Google Shape;251;p9"/>
          <p:cNvGraphicFramePr/>
          <p:nvPr/>
        </p:nvGraphicFramePr>
        <p:xfrm>
          <a:off x="4617720" y="3840480"/>
          <a:ext cx="4251960" cy="12344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52" name="Google Shape;252;p9"/>
          <p:cNvSpPr/>
          <p:nvPr/>
        </p:nvSpPr>
        <p:spPr>
          <a:xfrm>
            <a:off x="5419284" y="832104"/>
            <a:ext cx="1785477" cy="68580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424610" y="1220724"/>
            <a:ext cx="177482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Potential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Building the Team to Execute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82880" y="886968"/>
            <a:ext cx="2011680" cy="155448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82880" y="886968"/>
            <a:ext cx="2011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Now: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1" sz="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Asst Designer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Currently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Recruiting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212848" y="1435608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468880" y="886968"/>
            <a:ext cx="2011680" cy="155448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468880" y="886968"/>
            <a:ext cx="2011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Jun–Nov: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1" sz="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Collections Designer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Consultant (?)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498848" y="1435608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754880" y="886968"/>
            <a:ext cx="2011680" cy="1554480"/>
          </a:xfrm>
          <a:prstGeom prst="rect">
            <a:avLst/>
          </a:prstGeom>
          <a:solidFill>
            <a:srgbClr val="1A7A5A"/>
          </a:solidFill>
          <a:ln cap="flat" cmpd="sng" w="12700">
            <a:solidFill>
              <a:srgbClr val="1A7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754880" y="886968"/>
            <a:ext cx="2011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1" sz="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Sourcing &amp; Fabric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784848" y="1435608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040880" y="886968"/>
            <a:ext cx="2011680" cy="1554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040880" y="886968"/>
            <a:ext cx="2011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2027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1" sz="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of Product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Now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92966" y="3020338"/>
            <a:ext cx="2888787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Reporting Structure (once fully staffed)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749040" y="2967229"/>
            <a:ext cx="1645920" cy="5029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749040" y="2967229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10"/>
          <p:cNvCxnSpPr/>
          <p:nvPr/>
        </p:nvCxnSpPr>
        <p:spPr>
          <a:xfrm>
            <a:off x="4572000" y="3470149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0"/>
          <p:cNvSpPr/>
          <p:nvPr/>
        </p:nvSpPr>
        <p:spPr>
          <a:xfrm>
            <a:off x="3383280" y="3607309"/>
            <a:ext cx="2377440" cy="502920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383280" y="36073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of Product (Q1 2027)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0"/>
          <p:cNvCxnSpPr/>
          <p:nvPr/>
        </p:nvCxnSpPr>
        <p:spPr>
          <a:xfrm>
            <a:off x="914400" y="4265677"/>
            <a:ext cx="7315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10"/>
          <p:cNvCxnSpPr/>
          <p:nvPr/>
        </p:nvCxnSpPr>
        <p:spPr>
          <a:xfrm>
            <a:off x="914400" y="4265677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10"/>
          <p:cNvCxnSpPr/>
          <p:nvPr/>
        </p:nvCxnSpPr>
        <p:spPr>
          <a:xfrm>
            <a:off x="2743200" y="4265677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0"/>
          <p:cNvCxnSpPr/>
          <p:nvPr/>
        </p:nvCxnSpPr>
        <p:spPr>
          <a:xfrm>
            <a:off x="4572000" y="4265677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0"/>
          <p:cNvCxnSpPr/>
          <p:nvPr/>
        </p:nvCxnSpPr>
        <p:spPr>
          <a:xfrm>
            <a:off x="6400800" y="4265677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10"/>
          <p:cNvCxnSpPr/>
          <p:nvPr/>
        </p:nvCxnSpPr>
        <p:spPr>
          <a:xfrm>
            <a:off x="8229600" y="4265677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91440" y="4494277"/>
            <a:ext cx="1645920" cy="45720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1440" y="4494277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920240" y="4494277"/>
            <a:ext cx="1645920" cy="4572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920240" y="4494277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Lead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3749040" y="4494277"/>
            <a:ext cx="1645920" cy="4572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749040" y="4494277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&amp;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Lead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577840" y="4494277"/>
            <a:ext cx="1645920" cy="4572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577840" y="4494277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Lead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7406640" y="4494277"/>
            <a:ext cx="1645920" cy="457200"/>
          </a:xfrm>
          <a:prstGeom prst="rect">
            <a:avLst/>
          </a:prstGeom>
          <a:solidFill>
            <a:srgbClr val="1A7A5A"/>
          </a:solidFill>
          <a:ln cap="flat" cmpd="sng" w="12700">
            <a:solidFill>
              <a:srgbClr val="1A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406640" y="4494277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Sourcing &amp;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Fabric Mgr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003081" y="2801082"/>
            <a:ext cx="3017520" cy="115827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049244" y="282549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Sourcing 2026 Targets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200165" y="305691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Input COGS &lt;32% (from 35%)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200165" y="3249137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Avg fabric cost: KES 262/m (from KES 310)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200165" y="3462955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Outsource ≥10% of units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200165" y="36850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2–3 active outsource partners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0"/>
          <p:cNvCxnSpPr/>
          <p:nvPr/>
        </p:nvCxnSpPr>
        <p:spPr>
          <a:xfrm>
            <a:off x="4573480" y="4110228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 Input System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82880" y="740664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Two structured channels for store teams to feed insight directly into the product pipeline.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79158" y="1124711"/>
            <a:ext cx="4069080" cy="3678107"/>
          </a:xfrm>
          <a:prstGeom prst="rect">
            <a:avLst/>
          </a:prstGeom>
          <a:solidFill>
            <a:srgbClr val="EFF4FB"/>
          </a:solidFill>
          <a:ln cap="flat" cmpd="sng" w="12700">
            <a:solidFill>
              <a:srgbClr val="EFF4F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265442" y="1124712"/>
            <a:ext cx="4069080" cy="475488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265442" y="1124712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 1 — Store Picks (Reorders)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48322" y="1682496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48322" y="2039112"/>
            <a:ext cx="91440" cy="384048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49490" y="1973773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HQ curates the menu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49490" y="2204813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shortlist of eligible reorder styles per subcategory, with style summary and performance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48322" y="2624328"/>
            <a:ext cx="91440" cy="384048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49490" y="2562983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Stores pick 1–2 per subcategory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49490" y="282549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store selects from the menu — no open requests, no colourway choices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48322" y="3209544"/>
            <a:ext cx="91440" cy="384048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49490" y="31638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Blind to other stores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36040" y="340156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Stores submit independently; no store can see another's picks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48322" y="3794760"/>
            <a:ext cx="91440" cy="384048"/>
          </a:xfrm>
          <a:prstGeom prst="rect">
            <a:avLst/>
          </a:prstGeom>
          <a:solidFill>
            <a:srgbClr val="1B4B8A"/>
          </a:solidFill>
          <a:ln cap="flat" cmpd="sng" w="12700">
            <a:solidFill>
              <a:srgbClr val="1B4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49490" y="375818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HQ aggregates &amp; decides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49490" y="399592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Picks inform order volumes; HQ retains final call and assigns colourways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48322" y="443168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8A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4B8A"/>
                </a:solidFill>
                <a:latin typeface="Calibri"/>
                <a:ea typeface="Calibri"/>
                <a:cs typeface="Calibri"/>
                <a:sym typeface="Calibri"/>
              </a:rPr>
              <a:t>Cadence: Before each reorder cycle · Delivered via Google Forms link to store managers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361954" y="2542032"/>
            <a:ext cx="4023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361954" y="3044952"/>
            <a:ext cx="4023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791722" y="1124712"/>
            <a:ext cx="4069080" cy="3678106"/>
          </a:xfrm>
          <a:prstGeom prst="rect">
            <a:avLst/>
          </a:prstGeom>
          <a:solidFill>
            <a:srgbClr val="FDF0E8"/>
          </a:solidFill>
          <a:ln cap="flat" cmpd="sng" w="12700">
            <a:solidFill>
              <a:srgbClr val="FDF0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791722" y="1124712"/>
            <a:ext cx="4069080" cy="475488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791722" y="1124712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 2 — Retirement Feedback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974602" y="1682496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Triggered when a style retires: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974602" y="2039112"/>
            <a:ext cx="91440" cy="384048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175770" y="20482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Fit &amp; sizing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175770" y="22402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Did it fit well across body types? Any specific fit challenges?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974602" y="2624328"/>
            <a:ext cx="91440" cy="384048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175770" y="263347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5175770" y="282549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 complaints, returns, or store team observations?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974602" y="3209544"/>
            <a:ext cx="91440" cy="384048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175770" y="321868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Colour &amp; print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175770" y="341071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Wrong colourway for this market or season?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974602" y="3794760"/>
            <a:ext cx="91440" cy="384048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175770" y="380390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Occasion mismatch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5175770" y="399592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Did it miss the intended customer or moment?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974602" y="4428359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Cadence: Per retirement event — logged within 1 week of style pulling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258340" y="4885559"/>
            <a:ext cx="8595360" cy="201168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265442" y="4885559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channels feed into the Buying Council brief and Scouting Circle — closing the loop between shop floor and product decisions.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C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Rules &amp; Thresholds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548640" y="960120"/>
            <a:ext cx="109728" cy="41148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777240" y="9601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Reorder gate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2926080" y="960120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 price &gt;90%  ·  Last sale ≤7 days  ·  WOC ≤8 weeks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548640" y="1481328"/>
            <a:ext cx="109728" cy="41148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777240" y="148132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Week 8 SOR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2926080" y="1481328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&gt;60% → full rollout &amp; graduate  |  Miss → retire. No middle ground.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548640" y="2002536"/>
            <a:ext cx="109728" cy="41148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777240" y="2002536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Week 12 backstop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2926080" y="2002536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SOR ≥80% → graduate  |  &lt;80% → retire to outlet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48640" y="2523744"/>
            <a:ext cx="109728" cy="41148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777240" y="2523744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Outlet gap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2926080" y="2523744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4-week gap between floor retirement and 30% discount sale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48640" y="3044952"/>
            <a:ext cx="109728" cy="41148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777240" y="3044952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Production rule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2926080" y="3044952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style enters production without a completed, signed-off launch brief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48640" y="3566160"/>
            <a:ext cx="109728" cy="41148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777240" y="35661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Buying Council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2926080" y="3566160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Bi-weekly · selects 20–24 styles per cycle · CEO chairs until HoP hired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548640" y="4087368"/>
            <a:ext cx="109728" cy="41148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777240" y="408736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Range target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2926080" y="4087368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500–700 active styles  (current: 1,263 — clean-up underway)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548640" y="4617720"/>
            <a:ext cx="8229600" cy="384048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548640" y="46177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"Clothes for the modern African woman, at every chapter and in every occasion of her life."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2026-05-28T06:14:59Z</dcterms:created>
  <dc:creator>PptxGenJS</dc:creator>
</cp:coreProperties>
</file>